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Oswald Medium"/>
      <p:regular r:id="rId19"/>
      <p:bold r:id="rId20"/>
    </p:embeddedFont>
    <p:embeddedFont>
      <p:font typeface="Playfair Display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Medium-bold.fntdata"/><Relationship Id="rId11" Type="http://schemas.openxmlformats.org/officeDocument/2006/relationships/slide" Target="slides/slide6.xml"/><Relationship Id="rId22" Type="http://schemas.openxmlformats.org/officeDocument/2006/relationships/font" Target="fonts/PlayfairDisplaySemiBold-bold.fntdata"/><Relationship Id="rId10" Type="http://schemas.openxmlformats.org/officeDocument/2006/relationships/slide" Target="slides/slide5.xml"/><Relationship Id="rId21" Type="http://schemas.openxmlformats.org/officeDocument/2006/relationships/font" Target="fonts/PlayfairDisplaySemiBold-regular.fntdata"/><Relationship Id="rId13" Type="http://schemas.openxmlformats.org/officeDocument/2006/relationships/slide" Target="slides/slide8.xml"/><Relationship Id="rId24" Type="http://schemas.openxmlformats.org/officeDocument/2006/relationships/font" Target="fonts/PlayfairDisplaySemiBold-boldItalic.fntdata"/><Relationship Id="rId12" Type="http://schemas.openxmlformats.org/officeDocument/2006/relationships/slide" Target="slides/slide7.xml"/><Relationship Id="rId23" Type="http://schemas.openxmlformats.org/officeDocument/2006/relationships/font" Target="fonts/PlayfairDisplay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swaldMedium-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5c8f302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5c8f302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5c8f302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5c8f302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5c8f302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5c8f302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5c8f302f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5c8f302f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5c8f302f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5c8f302f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5c8f302f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5c8f302f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5c8f302f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5c8f302f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5c8f302f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5c8f302f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5c8f302f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5c8f302f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5c8f302f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5c8f302f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5c8f302f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5c8f302f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5c8f302f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5c8f302f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2C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blastchar/telco-customer-chur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666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Oswald Medium"/>
                <a:ea typeface="Oswald Medium"/>
                <a:cs typeface="Oswald Medium"/>
                <a:sym typeface="Oswald Medium"/>
              </a:rPr>
              <a:t>Telco Customer Churn Predictive Modeling</a:t>
            </a:r>
            <a:endParaRPr>
              <a:latin typeface="Oswald Medium"/>
              <a:ea typeface="Oswald Medium"/>
              <a:cs typeface="Oswald Medium"/>
              <a:sym typeface="Oswald Medium"/>
            </a:endParaRPr>
          </a:p>
        </p:txBody>
      </p:sp>
      <p:sp>
        <p:nvSpPr>
          <p:cNvPr id="55" name="Google Shape;55;p13"/>
          <p:cNvSpPr txBox="1"/>
          <p:nvPr>
            <p:ph idx="1" type="subTitle"/>
          </p:nvPr>
        </p:nvSpPr>
        <p:spPr>
          <a:xfrm>
            <a:off x="5829300" y="2633400"/>
            <a:ext cx="3359400" cy="667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500">
                <a:solidFill>
                  <a:schemeClr val="dk1"/>
                </a:solidFill>
              </a:rPr>
              <a:t>Jeffrey Xu</a:t>
            </a:r>
            <a:endParaRPr sz="2500">
              <a:solidFill>
                <a:schemeClr val="dk1"/>
              </a:solidFill>
            </a:endParaRPr>
          </a:p>
        </p:txBody>
      </p:sp>
      <p:pic>
        <p:nvPicPr>
          <p:cNvPr id="56" name="Google Shape;56;p13"/>
          <p:cNvPicPr preferRelativeResize="0"/>
          <p:nvPr/>
        </p:nvPicPr>
        <p:blipFill>
          <a:blip r:embed="rId3">
            <a:alphaModFix/>
          </a:blip>
          <a:stretch>
            <a:fillRect/>
          </a:stretch>
        </p:blipFill>
        <p:spPr>
          <a:xfrm>
            <a:off x="1474571" y="2305950"/>
            <a:ext cx="3648054" cy="2796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80525" y="1154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What is the Problem?</a:t>
            </a:r>
            <a:endParaRPr b="1" sz="2820"/>
          </a:p>
        </p:txBody>
      </p:sp>
      <p:sp>
        <p:nvSpPr>
          <p:cNvPr id="62" name="Google Shape;62;p14"/>
          <p:cNvSpPr txBox="1"/>
          <p:nvPr>
            <p:ph idx="1" type="body"/>
          </p:nvPr>
        </p:nvSpPr>
        <p:spPr>
          <a:xfrm>
            <a:off x="128700" y="1152450"/>
            <a:ext cx="4959000" cy="37446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1200"/>
              </a:spcAft>
              <a:buNone/>
            </a:pPr>
            <a:r>
              <a:rPr lang="en">
                <a:solidFill>
                  <a:schemeClr val="dk1"/>
                </a:solidFill>
              </a:rPr>
              <a:t>Telecommunications companies experience significant revenue loss when customers cancel their services. However, it is often difficult for businesses to clearly identify which factors lead customers to leave and which customers are most at risk of churning.</a:t>
            </a:r>
            <a:endParaRPr>
              <a:solidFill>
                <a:schemeClr val="dk1"/>
              </a:solidFill>
            </a:endParaRPr>
          </a:p>
        </p:txBody>
      </p:sp>
      <p:pic>
        <p:nvPicPr>
          <p:cNvPr id="63" name="Google Shape;63;p14"/>
          <p:cNvPicPr preferRelativeResize="0"/>
          <p:nvPr/>
        </p:nvPicPr>
        <p:blipFill>
          <a:blip r:embed="rId3">
            <a:alphaModFix/>
          </a:blip>
          <a:stretch>
            <a:fillRect/>
          </a:stretch>
        </p:blipFill>
        <p:spPr>
          <a:xfrm>
            <a:off x="5087700" y="1210250"/>
            <a:ext cx="3604625" cy="3089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2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How can we solve the problem?</a:t>
            </a:r>
            <a:endParaRPr b="1" sz="2820"/>
          </a:p>
        </p:txBody>
      </p:sp>
      <p:sp>
        <p:nvSpPr>
          <p:cNvPr id="69" name="Google Shape;69;p15"/>
          <p:cNvSpPr txBox="1"/>
          <p:nvPr>
            <p:ph idx="1" type="body"/>
          </p:nvPr>
        </p:nvSpPr>
        <p:spPr>
          <a:xfrm>
            <a:off x="311700" y="988750"/>
            <a:ext cx="8520600" cy="2068500"/>
          </a:xfrm>
          <a:prstGeom prst="rect">
            <a:avLst/>
          </a:prstGeom>
        </p:spPr>
        <p:txBody>
          <a:bodyPr anchorCtr="0" anchor="t" bIns="91425" lIns="91425" spcFirstLastPara="1" rIns="91425" wrap="square" tIns="91425">
            <a:noAutofit/>
          </a:bodyPr>
          <a:lstStyle/>
          <a:p>
            <a:pPr indent="0" lvl="0" marL="0" rtl="0" algn="l">
              <a:lnSpc>
                <a:spcPct val="190000"/>
              </a:lnSpc>
              <a:spcBef>
                <a:spcPts val="1200"/>
              </a:spcBef>
              <a:spcAft>
                <a:spcPts val="0"/>
              </a:spcAft>
              <a:buClr>
                <a:schemeClr val="dk1"/>
              </a:buClr>
              <a:buSzPts val="1018"/>
              <a:buFont typeface="Arial"/>
              <a:buNone/>
            </a:pPr>
            <a:r>
              <a:rPr lang="en">
                <a:solidFill>
                  <a:schemeClr val="dk1"/>
                </a:solidFill>
              </a:rPr>
              <a:t>We analyze </a:t>
            </a:r>
            <a:r>
              <a:rPr lang="en">
                <a:solidFill>
                  <a:schemeClr val="dk1"/>
                </a:solidFill>
              </a:rPr>
              <a:t>Telco customer data to identify patterns and behaviors associated with churn. By applying exploratory analysis and predictive modeling, we aim to uncover the key drivers of churn and build a model that helps identify customers who are most likely to leave.</a:t>
            </a:r>
            <a:endParaRPr>
              <a:solidFill>
                <a:schemeClr val="dk1"/>
              </a:solidFill>
            </a:endParaRPr>
          </a:p>
          <a:p>
            <a:pPr indent="0" lvl="0" marL="0" rtl="0" algn="l">
              <a:lnSpc>
                <a:spcPct val="190000"/>
              </a:lnSpc>
              <a:spcBef>
                <a:spcPts val="1200"/>
              </a:spcBef>
              <a:spcAft>
                <a:spcPts val="1200"/>
              </a:spcAft>
              <a:buSzPts val="1018"/>
              <a:buNone/>
            </a:pPr>
            <a:r>
              <a:t/>
            </a:r>
            <a:endParaRPr>
              <a:solidFill>
                <a:schemeClr val="dk1"/>
              </a:solidFill>
            </a:endParaRPr>
          </a:p>
        </p:txBody>
      </p:sp>
      <p:pic>
        <p:nvPicPr>
          <p:cNvPr id="70" name="Google Shape;70;p15"/>
          <p:cNvPicPr preferRelativeResize="0"/>
          <p:nvPr/>
        </p:nvPicPr>
        <p:blipFill>
          <a:blip r:embed="rId3">
            <a:alphaModFix/>
          </a:blip>
          <a:stretch>
            <a:fillRect/>
          </a:stretch>
        </p:blipFill>
        <p:spPr>
          <a:xfrm>
            <a:off x="4958800" y="2571750"/>
            <a:ext cx="3776726" cy="2517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Dataset</a:t>
            </a:r>
            <a:endParaRPr sz="2820"/>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a:solidFill>
                  <a:schemeClr val="dk1"/>
                </a:solidFill>
              </a:rPr>
              <a:t>Source: Kaggle – </a:t>
            </a:r>
            <a:r>
              <a:rPr lang="en" u="sng">
                <a:solidFill>
                  <a:schemeClr val="hlink"/>
                </a:solidFill>
                <a:hlinkClick r:id="rId3"/>
              </a:rPr>
              <a:t>Telco Customer Churn</a:t>
            </a:r>
            <a:r>
              <a:rPr lang="en">
                <a:solidFill>
                  <a:schemeClr val="dk1"/>
                </a:solidFill>
              </a:rPr>
              <a:t> . The data:</a:t>
            </a:r>
            <a:endParaRPr>
              <a:solidFill>
                <a:schemeClr val="dk1"/>
              </a:solidFill>
            </a:endParaRPr>
          </a:p>
          <a:p>
            <a:pPr indent="-342900" lvl="0" marL="457200" rtl="0" algn="l">
              <a:lnSpc>
                <a:spcPct val="200000"/>
              </a:lnSpc>
              <a:spcBef>
                <a:spcPts val="1200"/>
              </a:spcBef>
              <a:spcAft>
                <a:spcPts val="0"/>
              </a:spcAft>
              <a:buClr>
                <a:schemeClr val="dk1"/>
              </a:buClr>
              <a:buSzPts val="1800"/>
              <a:buChar char="-"/>
            </a:pPr>
            <a:r>
              <a:rPr lang="en">
                <a:solidFill>
                  <a:schemeClr val="dk1"/>
                </a:solidFill>
              </a:rPr>
              <a:t>Contains 7043 rows (customers) and 21 columns (features).</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en">
                <a:solidFill>
                  <a:schemeClr val="dk1"/>
                </a:solidFill>
              </a:rPr>
              <a:t>Key </a:t>
            </a:r>
            <a:r>
              <a:rPr lang="en">
                <a:solidFill>
                  <a:schemeClr val="dk1"/>
                </a:solidFill>
              </a:rPr>
              <a:t>variables</a:t>
            </a:r>
            <a:r>
              <a:rPr lang="en">
                <a:solidFill>
                  <a:schemeClr val="dk1"/>
                </a:solidFill>
              </a:rPr>
              <a:t> include: monthly charge, contract type, tenure, </a:t>
            </a:r>
            <a:r>
              <a:rPr lang="en">
                <a:solidFill>
                  <a:schemeClr val="dk1"/>
                </a:solidFill>
              </a:rPr>
              <a:t>internet</a:t>
            </a:r>
            <a:r>
              <a:rPr lang="en">
                <a:solidFill>
                  <a:schemeClr val="dk1"/>
                </a:solidFill>
              </a:rPr>
              <a:t> service</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en">
                <a:solidFill>
                  <a:schemeClr val="dk1"/>
                </a:solidFill>
              </a:rPr>
              <a:t>Target variable: Churn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Data Wrangling</a:t>
            </a:r>
            <a:endParaRPr sz="2820"/>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a:solidFill>
                  <a:schemeClr val="dk1"/>
                </a:solidFill>
              </a:rPr>
              <a:t>During our initial inspection:</a:t>
            </a:r>
            <a:endParaRPr>
              <a:solidFill>
                <a:schemeClr val="dk1"/>
              </a:solidFill>
            </a:endParaRPr>
          </a:p>
          <a:p>
            <a:pPr indent="-342900" lvl="0" marL="457200" rtl="0" algn="l">
              <a:lnSpc>
                <a:spcPct val="200000"/>
              </a:lnSpc>
              <a:spcBef>
                <a:spcPts val="1200"/>
              </a:spcBef>
              <a:spcAft>
                <a:spcPts val="0"/>
              </a:spcAft>
              <a:buClr>
                <a:schemeClr val="dk1"/>
              </a:buClr>
              <a:buSzPts val="1800"/>
              <a:buChar char="-"/>
            </a:pPr>
            <a:r>
              <a:rPr lang="en">
                <a:solidFill>
                  <a:schemeClr val="dk1"/>
                </a:solidFill>
              </a:rPr>
              <a:t>Dropped irrelevant columns (e.g., CustomerID)</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en">
                <a:solidFill>
                  <a:schemeClr val="dk1"/>
                </a:solidFill>
              </a:rPr>
              <a:t>Corrected data types (converted </a:t>
            </a:r>
            <a:r>
              <a:rPr b="1" lang="en">
                <a:solidFill>
                  <a:schemeClr val="dk1"/>
                </a:solidFill>
              </a:rPr>
              <a:t>TotalCharges</a:t>
            </a:r>
            <a:r>
              <a:rPr lang="en">
                <a:solidFill>
                  <a:schemeClr val="dk1"/>
                </a:solidFill>
              </a:rPr>
              <a:t> to numeric)</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en">
                <a:solidFill>
                  <a:schemeClr val="dk1"/>
                </a:solidFill>
              </a:rPr>
              <a:t>Feature preparations (Organized variables into categorical and numerical groups to prepare for encoding and scaling in the modeling stage.)</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Exploratory Data Analysis (EDA)</a:t>
            </a:r>
            <a:endParaRPr sz="2820"/>
          </a:p>
        </p:txBody>
      </p:sp>
      <p:pic>
        <p:nvPicPr>
          <p:cNvPr id="88" name="Google Shape;88;p18"/>
          <p:cNvPicPr preferRelativeResize="0"/>
          <p:nvPr/>
        </p:nvPicPr>
        <p:blipFill>
          <a:blip r:embed="rId3">
            <a:alphaModFix/>
          </a:blip>
          <a:stretch>
            <a:fillRect/>
          </a:stretch>
        </p:blipFill>
        <p:spPr>
          <a:xfrm>
            <a:off x="162050" y="1198200"/>
            <a:ext cx="3702326" cy="2665450"/>
          </a:xfrm>
          <a:prstGeom prst="rect">
            <a:avLst/>
          </a:prstGeom>
          <a:noFill/>
          <a:ln>
            <a:noFill/>
          </a:ln>
        </p:spPr>
      </p:pic>
      <p:pic>
        <p:nvPicPr>
          <p:cNvPr id="89" name="Google Shape;89;p18"/>
          <p:cNvPicPr preferRelativeResize="0"/>
          <p:nvPr/>
        </p:nvPicPr>
        <p:blipFill>
          <a:blip r:embed="rId4">
            <a:alphaModFix/>
          </a:blip>
          <a:stretch>
            <a:fillRect/>
          </a:stretch>
        </p:blipFill>
        <p:spPr>
          <a:xfrm>
            <a:off x="4694550" y="1198200"/>
            <a:ext cx="4215673" cy="2665450"/>
          </a:xfrm>
          <a:prstGeom prst="rect">
            <a:avLst/>
          </a:prstGeom>
          <a:noFill/>
          <a:ln>
            <a:noFill/>
          </a:ln>
        </p:spPr>
      </p:pic>
      <p:sp>
        <p:nvSpPr>
          <p:cNvPr id="90" name="Google Shape;90;p18"/>
          <p:cNvSpPr txBox="1"/>
          <p:nvPr/>
        </p:nvSpPr>
        <p:spPr>
          <a:xfrm>
            <a:off x="300525" y="4039675"/>
            <a:ext cx="3564000" cy="8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There is a significant increase in churn rate with monthly contracts than with yearly contracts.</a:t>
            </a:r>
            <a:endParaRPr sz="1600">
              <a:solidFill>
                <a:schemeClr val="dk1"/>
              </a:solidFill>
            </a:endParaRPr>
          </a:p>
        </p:txBody>
      </p:sp>
      <p:sp>
        <p:nvSpPr>
          <p:cNvPr id="91" name="Google Shape;91;p18"/>
          <p:cNvSpPr txBox="1"/>
          <p:nvPr/>
        </p:nvSpPr>
        <p:spPr>
          <a:xfrm>
            <a:off x="4808300" y="4039675"/>
            <a:ext cx="3958800" cy="7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As tenure (in months) go up, rate of churn decreases.</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1000"/>
                                        <p:tgtEl>
                                          <p:spTgt spid="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1000"/>
                                        <p:tgtEl>
                                          <p:spTgt spid="8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1000"/>
                                        <p:tgtEl>
                                          <p:spTgt spid="9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42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820"/>
              <a:t>Exploratory Data Analysis (EDA) ((cont.))</a:t>
            </a:r>
            <a:endParaRPr sz="2820"/>
          </a:p>
          <a:p>
            <a:pPr indent="0" lvl="0" marL="0" rtl="0" algn="l">
              <a:spcBef>
                <a:spcPts val="0"/>
              </a:spcBef>
              <a:spcAft>
                <a:spcPts val="0"/>
              </a:spcAft>
              <a:buSzPts val="990"/>
              <a:buNone/>
            </a:pPr>
            <a:r>
              <a:t/>
            </a:r>
            <a:endParaRPr sz="2820"/>
          </a:p>
        </p:txBody>
      </p:sp>
      <p:pic>
        <p:nvPicPr>
          <p:cNvPr id="97" name="Google Shape;97;p19"/>
          <p:cNvPicPr preferRelativeResize="0"/>
          <p:nvPr/>
        </p:nvPicPr>
        <p:blipFill>
          <a:blip r:embed="rId3">
            <a:alphaModFix/>
          </a:blip>
          <a:stretch>
            <a:fillRect/>
          </a:stretch>
        </p:blipFill>
        <p:spPr>
          <a:xfrm>
            <a:off x="190950" y="947775"/>
            <a:ext cx="3991300" cy="2966675"/>
          </a:xfrm>
          <a:prstGeom prst="rect">
            <a:avLst/>
          </a:prstGeom>
          <a:noFill/>
          <a:ln>
            <a:noFill/>
          </a:ln>
        </p:spPr>
      </p:pic>
      <p:pic>
        <p:nvPicPr>
          <p:cNvPr id="98" name="Google Shape;98;p19"/>
          <p:cNvPicPr preferRelativeResize="0"/>
          <p:nvPr/>
        </p:nvPicPr>
        <p:blipFill>
          <a:blip r:embed="rId4">
            <a:alphaModFix/>
          </a:blip>
          <a:stretch>
            <a:fillRect/>
          </a:stretch>
        </p:blipFill>
        <p:spPr>
          <a:xfrm>
            <a:off x="4349950" y="947775"/>
            <a:ext cx="4666599" cy="3129600"/>
          </a:xfrm>
          <a:prstGeom prst="rect">
            <a:avLst/>
          </a:prstGeom>
          <a:noFill/>
          <a:ln>
            <a:noFill/>
          </a:ln>
        </p:spPr>
      </p:pic>
      <p:sp>
        <p:nvSpPr>
          <p:cNvPr id="99" name="Google Shape;99;p19"/>
          <p:cNvSpPr txBox="1"/>
          <p:nvPr/>
        </p:nvSpPr>
        <p:spPr>
          <a:xfrm>
            <a:off x="293900" y="4077375"/>
            <a:ext cx="3785400" cy="6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Churn rates show a slight increase as monthly charges increase.</a:t>
            </a:r>
            <a:endParaRPr sz="1600">
              <a:solidFill>
                <a:schemeClr val="dk1"/>
              </a:solidFill>
            </a:endParaRPr>
          </a:p>
        </p:txBody>
      </p:sp>
      <p:sp>
        <p:nvSpPr>
          <p:cNvPr id="100" name="Google Shape;100;p19"/>
          <p:cNvSpPr txBox="1"/>
          <p:nvPr/>
        </p:nvSpPr>
        <p:spPr>
          <a:xfrm>
            <a:off x="4374900" y="4077375"/>
            <a:ext cx="4616700" cy="106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Fiber optic customers exhibit the highest churn rates, suggesting that higher-paying, high-speed users may also have higher expectations and greater sensitivity to pricing or service quality.</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1000"/>
                                        <p:tgtEl>
                                          <p:spTgt spid="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1000"/>
                                        <p:tgtEl>
                                          <p:spTgt spid="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295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EDA(cont.) - Feature Interaction Analysis</a:t>
            </a:r>
            <a:endParaRPr/>
          </a:p>
        </p:txBody>
      </p:sp>
      <p:pic>
        <p:nvPicPr>
          <p:cNvPr id="106" name="Google Shape;106;p20"/>
          <p:cNvPicPr preferRelativeResize="0"/>
          <p:nvPr/>
        </p:nvPicPr>
        <p:blipFill>
          <a:blip r:embed="rId3">
            <a:alphaModFix/>
          </a:blip>
          <a:stretch>
            <a:fillRect/>
          </a:stretch>
        </p:blipFill>
        <p:spPr>
          <a:xfrm>
            <a:off x="-35300" y="929825"/>
            <a:ext cx="4601599" cy="3223588"/>
          </a:xfrm>
          <a:prstGeom prst="rect">
            <a:avLst/>
          </a:prstGeom>
          <a:noFill/>
          <a:ln>
            <a:noFill/>
          </a:ln>
        </p:spPr>
      </p:pic>
      <p:pic>
        <p:nvPicPr>
          <p:cNvPr id="107" name="Google Shape;107;p20"/>
          <p:cNvPicPr preferRelativeResize="0"/>
          <p:nvPr/>
        </p:nvPicPr>
        <p:blipFill>
          <a:blip r:embed="rId4">
            <a:alphaModFix/>
          </a:blip>
          <a:stretch>
            <a:fillRect/>
          </a:stretch>
        </p:blipFill>
        <p:spPr>
          <a:xfrm>
            <a:off x="4711975" y="929825"/>
            <a:ext cx="4432026" cy="3283874"/>
          </a:xfrm>
          <a:prstGeom prst="rect">
            <a:avLst/>
          </a:prstGeom>
          <a:noFill/>
          <a:ln>
            <a:noFill/>
          </a:ln>
        </p:spPr>
      </p:pic>
      <p:sp>
        <p:nvSpPr>
          <p:cNvPr id="108" name="Google Shape;108;p20"/>
          <p:cNvSpPr txBox="1"/>
          <p:nvPr/>
        </p:nvSpPr>
        <p:spPr>
          <a:xfrm>
            <a:off x="69350" y="4214925"/>
            <a:ext cx="4392300" cy="9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Customers on monthly contracts churn at highest rate, however even long tenure monthly customers churn at higher rates than lower tenure customers on yearly contracts.</a:t>
            </a:r>
            <a:endParaRPr>
              <a:solidFill>
                <a:schemeClr val="dk1"/>
              </a:solidFill>
            </a:endParaRPr>
          </a:p>
        </p:txBody>
      </p:sp>
      <p:sp>
        <p:nvSpPr>
          <p:cNvPr id="109" name="Google Shape;109;p20"/>
          <p:cNvSpPr txBox="1"/>
          <p:nvPr/>
        </p:nvSpPr>
        <p:spPr>
          <a:xfrm>
            <a:off x="4711975" y="4319000"/>
            <a:ext cx="4353600" cy="82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Customers with fiber optic service who do not have tech support demonstrate significantly higher churn rates compared to those who do.</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10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1000"/>
                                        <p:tgtEl>
                                          <p:spTgt spid="10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1000"/>
                                        <p:tgtEl>
                                          <p:spTgt spid="1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1000"/>
                                        <p:tgtEl>
                                          <p:spTgt spid="10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194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Modeling</a:t>
            </a:r>
            <a:endParaRPr sz="2820"/>
          </a:p>
        </p:txBody>
      </p:sp>
      <p:sp>
        <p:nvSpPr>
          <p:cNvPr id="115" name="Google Shape;115;p21"/>
          <p:cNvSpPr txBox="1"/>
          <p:nvPr/>
        </p:nvSpPr>
        <p:spPr>
          <a:xfrm>
            <a:off x="311700" y="852450"/>
            <a:ext cx="8254800" cy="22335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300">
                <a:solidFill>
                  <a:schemeClr val="dk1"/>
                </a:solidFill>
              </a:rPr>
              <a:t>Three classification models were trained to predict customer churn: </a:t>
            </a:r>
            <a:r>
              <a:rPr b="1" lang="en" sz="1300">
                <a:solidFill>
                  <a:schemeClr val="dk1"/>
                </a:solidFill>
              </a:rPr>
              <a:t>Logistic Regression, Random Forest, and Gradient Boosting</a:t>
            </a:r>
            <a:r>
              <a:rPr lang="en" sz="1300">
                <a:solidFill>
                  <a:schemeClr val="dk1"/>
                </a:solidFill>
              </a:rPr>
              <a:t>. Logistic Regression achieved the best performance with an </a:t>
            </a:r>
            <a:r>
              <a:rPr b="1" lang="en" sz="1300">
                <a:solidFill>
                  <a:schemeClr val="dk1"/>
                </a:solidFill>
              </a:rPr>
              <a:t>Accuracy of 79.9%</a:t>
            </a:r>
            <a:r>
              <a:rPr lang="en" sz="1300">
                <a:solidFill>
                  <a:schemeClr val="dk1"/>
                </a:solidFill>
              </a:rPr>
              <a:t> and </a:t>
            </a:r>
            <a:r>
              <a:rPr b="1" lang="en" sz="1300">
                <a:solidFill>
                  <a:schemeClr val="dk1"/>
                </a:solidFill>
              </a:rPr>
              <a:t>ROC-AUC of 0.842</a:t>
            </a:r>
            <a:r>
              <a:rPr lang="en" sz="1300">
                <a:solidFill>
                  <a:schemeClr val="dk1"/>
                </a:solidFill>
              </a:rPr>
              <a:t>, while Gradient Boosting performed nearly identically (</a:t>
            </a:r>
            <a:r>
              <a:rPr b="1" lang="en" sz="1300">
                <a:solidFill>
                  <a:schemeClr val="dk1"/>
                </a:solidFill>
              </a:rPr>
              <a:t>Accuracy: 79.6%, ROC-AUC: 0.842</a:t>
            </a:r>
            <a:r>
              <a:rPr lang="en" sz="1300">
                <a:solidFill>
                  <a:schemeClr val="dk1"/>
                </a:solidFill>
              </a:rPr>
              <a:t>) and Random Forest trailed slightly (</a:t>
            </a:r>
            <a:r>
              <a:rPr b="1" lang="en" sz="1300">
                <a:solidFill>
                  <a:schemeClr val="dk1"/>
                </a:solidFill>
              </a:rPr>
              <a:t>Accuracy: 78.9%, ROC-AUC: 0.823</a:t>
            </a:r>
            <a:r>
              <a:rPr lang="en" sz="1300">
                <a:solidFill>
                  <a:schemeClr val="dk1"/>
                </a:solidFill>
              </a:rPr>
              <a:t>).</a:t>
            </a:r>
            <a:endParaRPr sz="1300">
              <a:solidFill>
                <a:schemeClr val="dk2"/>
              </a:solidFill>
            </a:endParaRPr>
          </a:p>
        </p:txBody>
      </p:sp>
      <p:pic>
        <p:nvPicPr>
          <p:cNvPr id="116" name="Google Shape;116;p21"/>
          <p:cNvPicPr preferRelativeResize="0"/>
          <p:nvPr/>
        </p:nvPicPr>
        <p:blipFill>
          <a:blip r:embed="rId3">
            <a:alphaModFix/>
          </a:blip>
          <a:stretch>
            <a:fillRect/>
          </a:stretch>
        </p:blipFill>
        <p:spPr>
          <a:xfrm>
            <a:off x="0" y="2517800"/>
            <a:ext cx="2891525" cy="2485075"/>
          </a:xfrm>
          <a:prstGeom prst="rect">
            <a:avLst/>
          </a:prstGeom>
          <a:noFill/>
          <a:ln>
            <a:noFill/>
          </a:ln>
        </p:spPr>
      </p:pic>
      <p:pic>
        <p:nvPicPr>
          <p:cNvPr id="117" name="Google Shape;117;p21"/>
          <p:cNvPicPr preferRelativeResize="0"/>
          <p:nvPr/>
        </p:nvPicPr>
        <p:blipFill>
          <a:blip r:embed="rId4">
            <a:alphaModFix/>
          </a:blip>
          <a:stretch>
            <a:fillRect/>
          </a:stretch>
        </p:blipFill>
        <p:spPr>
          <a:xfrm>
            <a:off x="3009299" y="2517800"/>
            <a:ext cx="2964475" cy="2485075"/>
          </a:xfrm>
          <a:prstGeom prst="rect">
            <a:avLst/>
          </a:prstGeom>
          <a:noFill/>
          <a:ln>
            <a:noFill/>
          </a:ln>
        </p:spPr>
      </p:pic>
      <p:pic>
        <p:nvPicPr>
          <p:cNvPr id="118" name="Google Shape;118;p21"/>
          <p:cNvPicPr preferRelativeResize="0"/>
          <p:nvPr/>
        </p:nvPicPr>
        <p:blipFill>
          <a:blip r:embed="rId5">
            <a:alphaModFix/>
          </a:blip>
          <a:stretch>
            <a:fillRect/>
          </a:stretch>
        </p:blipFill>
        <p:spPr>
          <a:xfrm>
            <a:off x="6050500" y="2517800"/>
            <a:ext cx="3021200" cy="2485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Modeling (cont.)</a:t>
            </a:r>
            <a:endParaRPr sz="2820"/>
          </a:p>
        </p:txBody>
      </p:sp>
      <p:sp>
        <p:nvSpPr>
          <p:cNvPr id="124" name="Google Shape;12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1200"/>
              </a:spcAft>
              <a:buNone/>
            </a:pPr>
            <a:r>
              <a:rPr lang="en" sz="1400">
                <a:solidFill>
                  <a:schemeClr val="dk1"/>
                </a:solidFill>
              </a:rPr>
              <a:t>Despite being the simplest model, </a:t>
            </a:r>
            <a:r>
              <a:rPr b="1" lang="en" sz="1400">
                <a:solidFill>
                  <a:schemeClr val="dk1"/>
                </a:solidFill>
              </a:rPr>
              <a:t>Logistic Regression performed best</a:t>
            </a:r>
            <a:r>
              <a:rPr lang="en" sz="1400">
                <a:solidFill>
                  <a:schemeClr val="dk1"/>
                </a:solidFill>
              </a:rPr>
              <a:t>, suggesting that churn in this dataset is largely driven by structured, additive relationships between customer attributes such as contract type, tenure, and pricing variables. This makes Logistic Regression both the </a:t>
            </a:r>
            <a:r>
              <a:rPr b="1" lang="en" sz="1400">
                <a:solidFill>
                  <a:schemeClr val="dk1"/>
                </a:solidFill>
              </a:rPr>
              <a:t>most effective and most interpretable model</a:t>
            </a:r>
            <a:r>
              <a:rPr lang="en" sz="1400">
                <a:solidFill>
                  <a:schemeClr val="dk1"/>
                </a:solidFill>
              </a:rPr>
              <a:t>, allowing stakeholders to clearly understand the drivers of churn while maintaining strong predictive performance.</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Incorporating Findings</a:t>
            </a:r>
            <a:endParaRPr sz="2820"/>
          </a:p>
        </p:txBody>
      </p:sp>
      <p:sp>
        <p:nvSpPr>
          <p:cNvPr id="130" name="Google Shape;13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b="1" lang="en" sz="1200">
                <a:solidFill>
                  <a:schemeClr val="dk1"/>
                </a:solidFill>
              </a:rPr>
              <a:t>Why This Matters</a:t>
            </a:r>
            <a:endParaRPr b="1" sz="1200">
              <a:solidFill>
                <a:schemeClr val="dk1"/>
              </a:solidFill>
            </a:endParaRPr>
          </a:p>
          <a:p>
            <a:pPr indent="-304800" lvl="0" marL="457200" rtl="0" algn="l">
              <a:lnSpc>
                <a:spcPct val="95000"/>
              </a:lnSpc>
              <a:spcBef>
                <a:spcPts val="1200"/>
              </a:spcBef>
              <a:spcAft>
                <a:spcPts val="0"/>
              </a:spcAft>
              <a:buClr>
                <a:schemeClr val="dk1"/>
              </a:buClr>
              <a:buSzPts val="1200"/>
              <a:buChar char="●"/>
            </a:pPr>
            <a:r>
              <a:rPr lang="en" sz="1200">
                <a:solidFill>
                  <a:schemeClr val="dk1"/>
                </a:solidFill>
              </a:rPr>
              <a:t>Customer churn can be predicted with strong accuracy (ROC-AUC ≈ 0.84) using service and behavior data.</a:t>
            </a:r>
            <a:br>
              <a:rPr lang="en" sz="1200">
                <a:solidFill>
                  <a:schemeClr val="dk1"/>
                </a:solidFill>
              </a:rPr>
            </a:b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Customers with </a:t>
            </a:r>
            <a:r>
              <a:rPr b="1" lang="en" sz="1200">
                <a:solidFill>
                  <a:schemeClr val="dk1"/>
                </a:solidFill>
              </a:rPr>
              <a:t>month-to-month contracts, short tenure, and higher monthly charges</a:t>
            </a:r>
            <a:r>
              <a:rPr lang="en" sz="1200">
                <a:solidFill>
                  <a:schemeClr val="dk1"/>
                </a:solidFill>
              </a:rPr>
              <a:t> are more likely to leave.</a:t>
            </a:r>
            <a:br>
              <a:rPr lang="en" sz="1200">
                <a:solidFill>
                  <a:schemeClr val="dk1"/>
                </a:solidFill>
              </a:rPr>
            </a:b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Churn leads to </a:t>
            </a:r>
            <a:r>
              <a:rPr b="1" lang="en" sz="1200">
                <a:solidFill>
                  <a:schemeClr val="dk1"/>
                </a:solidFill>
              </a:rPr>
              <a:t>lost revenue and higher customer acquisition costs</a:t>
            </a:r>
            <a:r>
              <a:rPr lang="en" sz="1200">
                <a:solidFill>
                  <a:schemeClr val="dk1"/>
                </a:solidFill>
              </a:rPr>
              <a:t>, making retention critical.</a:t>
            </a:r>
            <a:endParaRPr sz="1200">
              <a:solidFill>
                <a:schemeClr val="dk1"/>
              </a:solidFill>
            </a:endParaRPr>
          </a:p>
          <a:p>
            <a:pPr indent="0" lvl="0" marL="0" rtl="0" algn="l">
              <a:lnSpc>
                <a:spcPct val="95000"/>
              </a:lnSpc>
              <a:spcBef>
                <a:spcPts val="1200"/>
              </a:spcBef>
              <a:spcAft>
                <a:spcPts val="0"/>
              </a:spcAft>
              <a:buNone/>
            </a:pPr>
            <a:r>
              <a:t/>
            </a:r>
            <a:endParaRPr b="1" sz="1200">
              <a:solidFill>
                <a:schemeClr val="dk1"/>
              </a:solidFill>
            </a:endParaRPr>
          </a:p>
          <a:p>
            <a:pPr indent="0" lvl="0" marL="0" rtl="0" algn="l">
              <a:lnSpc>
                <a:spcPct val="95000"/>
              </a:lnSpc>
              <a:spcBef>
                <a:spcPts val="1200"/>
              </a:spcBef>
              <a:spcAft>
                <a:spcPts val="0"/>
              </a:spcAft>
              <a:buNone/>
            </a:pPr>
            <a:r>
              <a:rPr b="1" lang="en" sz="1200">
                <a:solidFill>
                  <a:schemeClr val="dk1"/>
                </a:solidFill>
              </a:rPr>
              <a:t>What Shareholders / Telco Companies Can Do</a:t>
            </a:r>
            <a:endParaRPr b="1" sz="1200">
              <a:solidFill>
                <a:schemeClr val="dk1"/>
              </a:solidFill>
            </a:endParaRPr>
          </a:p>
          <a:p>
            <a:pPr indent="-304800" lvl="0" marL="457200" rtl="0" algn="l">
              <a:lnSpc>
                <a:spcPct val="95000"/>
              </a:lnSpc>
              <a:spcBef>
                <a:spcPts val="1200"/>
              </a:spcBef>
              <a:spcAft>
                <a:spcPts val="0"/>
              </a:spcAft>
              <a:buClr>
                <a:schemeClr val="dk1"/>
              </a:buClr>
              <a:buSzPts val="1200"/>
              <a:buChar char="●"/>
            </a:pPr>
            <a:r>
              <a:rPr lang="en" sz="1200">
                <a:solidFill>
                  <a:schemeClr val="dk1"/>
                </a:solidFill>
              </a:rPr>
              <a:t>Implement </a:t>
            </a:r>
            <a:r>
              <a:rPr b="1" lang="en" sz="1200">
                <a:solidFill>
                  <a:schemeClr val="dk1"/>
                </a:solidFill>
              </a:rPr>
              <a:t>churn prediction systems</a:t>
            </a:r>
            <a:r>
              <a:rPr lang="en" sz="1200">
                <a:solidFill>
                  <a:schemeClr val="dk1"/>
                </a:solidFill>
              </a:rPr>
              <a:t> to flag high-risk customers early.</a:t>
            </a:r>
            <a:br>
              <a:rPr lang="en" sz="1200">
                <a:solidFill>
                  <a:schemeClr val="dk1"/>
                </a:solidFill>
              </a:rPr>
            </a:b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Offer </a:t>
            </a:r>
            <a:r>
              <a:rPr b="1" lang="en" sz="1200">
                <a:solidFill>
                  <a:schemeClr val="dk1"/>
                </a:solidFill>
              </a:rPr>
              <a:t>targeted retention incentives or service improvements</a:t>
            </a:r>
            <a:r>
              <a:rPr lang="en" sz="1200">
                <a:solidFill>
                  <a:schemeClr val="dk1"/>
                </a:solidFill>
              </a:rPr>
              <a:t> to prevent churn.</a:t>
            </a:r>
            <a:br>
              <a:rPr lang="en" sz="1200">
                <a:solidFill>
                  <a:schemeClr val="dk1"/>
                </a:solidFill>
              </a:rPr>
            </a:br>
            <a:endParaRPr sz="1200">
              <a:solidFill>
                <a:schemeClr val="dk1"/>
              </a:solidFill>
            </a:endParaRPr>
          </a:p>
          <a:p>
            <a:pPr indent="-304800" lvl="0" marL="457200" rtl="0" algn="l">
              <a:lnSpc>
                <a:spcPct val="95000"/>
              </a:lnSpc>
              <a:spcBef>
                <a:spcPts val="0"/>
              </a:spcBef>
              <a:spcAft>
                <a:spcPts val="0"/>
              </a:spcAft>
              <a:buClr>
                <a:schemeClr val="dk1"/>
              </a:buClr>
              <a:buSzPts val="1200"/>
              <a:buChar char="●"/>
            </a:pPr>
            <a:r>
              <a:rPr lang="en" sz="1200">
                <a:solidFill>
                  <a:schemeClr val="dk1"/>
                </a:solidFill>
              </a:rPr>
              <a:t>Encourage customers to move from </a:t>
            </a:r>
            <a:r>
              <a:rPr b="1" lang="en" sz="1200">
                <a:solidFill>
                  <a:schemeClr val="dk1"/>
                </a:solidFill>
              </a:rPr>
              <a:t>month-to-month to longer-term contracts</a:t>
            </a:r>
            <a:r>
              <a:rPr lang="en" sz="1200">
                <a:solidFill>
                  <a:schemeClr val="dk1"/>
                </a:solidFill>
              </a:rPr>
              <a:t>.</a:t>
            </a:r>
            <a:endParaRPr b="1" sz="1200">
              <a:solidFill>
                <a:schemeClr val="dk1"/>
              </a:solidFill>
            </a:endParaRPr>
          </a:p>
          <a:p>
            <a:pPr indent="0" lvl="0" marL="0" rtl="0" algn="l">
              <a:lnSpc>
                <a:spcPct val="95000"/>
              </a:lnSpc>
              <a:spcBef>
                <a:spcPts val="1200"/>
              </a:spcBef>
              <a:spcAft>
                <a:spcPts val="1200"/>
              </a:spcAft>
              <a:buNone/>
            </a:pPr>
            <a:r>
              <a:t/>
            </a:r>
            <a:endParaRPr sz="1200"/>
          </a:p>
        </p:txBody>
      </p:sp>
      <p:pic>
        <p:nvPicPr>
          <p:cNvPr id="131" name="Google Shape;131;p23"/>
          <p:cNvPicPr preferRelativeResize="0"/>
          <p:nvPr/>
        </p:nvPicPr>
        <p:blipFill>
          <a:blip r:embed="rId3">
            <a:alphaModFix/>
          </a:blip>
          <a:stretch>
            <a:fillRect/>
          </a:stretch>
        </p:blipFill>
        <p:spPr>
          <a:xfrm>
            <a:off x="6553375" y="2571750"/>
            <a:ext cx="2317474" cy="2317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t>Further Research Ideas</a:t>
            </a:r>
            <a:endParaRPr sz="2820"/>
          </a:p>
        </p:txBody>
      </p:sp>
      <p:sp>
        <p:nvSpPr>
          <p:cNvPr id="137" name="Google Shape;137;p24"/>
          <p:cNvSpPr txBox="1"/>
          <p:nvPr>
            <p:ph idx="1" type="body"/>
          </p:nvPr>
        </p:nvSpPr>
        <p:spPr>
          <a:xfrm>
            <a:off x="140575" y="1152475"/>
            <a:ext cx="4503900" cy="3802200"/>
          </a:xfrm>
          <a:prstGeom prst="rect">
            <a:avLst/>
          </a:prstGeom>
        </p:spPr>
        <p:txBody>
          <a:bodyPr anchorCtr="0" anchor="t" bIns="91425" lIns="91425" spcFirstLastPara="1" rIns="91425" wrap="square" tIns="91425">
            <a:normAutofit lnSpcReduction="10000"/>
          </a:bodyPr>
          <a:lstStyle/>
          <a:p>
            <a:pPr indent="-317500" lvl="0" marL="457200" rtl="0" algn="l">
              <a:spcBef>
                <a:spcPts val="1200"/>
              </a:spcBef>
              <a:spcAft>
                <a:spcPts val="0"/>
              </a:spcAft>
              <a:buClr>
                <a:schemeClr val="dk1"/>
              </a:buClr>
              <a:buSzPts val="1400"/>
              <a:buChar char="●"/>
            </a:pPr>
            <a:r>
              <a:rPr lang="en" sz="1400">
                <a:solidFill>
                  <a:schemeClr val="dk1"/>
                </a:solidFill>
              </a:rPr>
              <a:t>Incorporate </a:t>
            </a:r>
            <a:r>
              <a:rPr b="1" lang="en" sz="1400">
                <a:solidFill>
                  <a:schemeClr val="dk1"/>
                </a:solidFill>
              </a:rPr>
              <a:t>additional behavioral data</a:t>
            </a:r>
            <a:r>
              <a:rPr lang="en" sz="1400">
                <a:solidFill>
                  <a:schemeClr val="dk1"/>
                </a:solidFill>
              </a:rPr>
              <a:t> (service usage, support interactions, billing history) to improve predictions.</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Test </a:t>
            </a:r>
            <a:r>
              <a:rPr b="1" lang="en" sz="1400">
                <a:solidFill>
                  <a:schemeClr val="dk1"/>
                </a:solidFill>
              </a:rPr>
              <a:t>more advanced models</a:t>
            </a:r>
            <a:r>
              <a:rPr lang="en" sz="1400">
                <a:solidFill>
                  <a:schemeClr val="dk1"/>
                </a:solidFill>
              </a:rPr>
              <a:t> such as XGBoost or LightGBM.</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 </a:t>
            </a:r>
            <a:r>
              <a:rPr b="1" lang="en" sz="1400">
                <a:solidFill>
                  <a:schemeClr val="dk1"/>
                </a:solidFill>
              </a:rPr>
              <a:t>time-based approaches</a:t>
            </a:r>
            <a:r>
              <a:rPr lang="en" sz="1400">
                <a:solidFill>
                  <a:schemeClr val="dk1"/>
                </a:solidFill>
              </a:rPr>
              <a:t> (e.g., survival analysis or time-series models) to predict </a:t>
            </a:r>
            <a:r>
              <a:rPr i="1" lang="en" sz="1400">
                <a:solidFill>
                  <a:schemeClr val="dk1"/>
                </a:solidFill>
              </a:rPr>
              <a:t>when</a:t>
            </a:r>
            <a:r>
              <a:rPr lang="en" sz="1400">
                <a:solidFill>
                  <a:schemeClr val="dk1"/>
                </a:solidFill>
              </a:rPr>
              <a:t> churn may occur.</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Conduct </a:t>
            </a:r>
            <a:r>
              <a:rPr b="1" lang="en" sz="1400">
                <a:solidFill>
                  <a:schemeClr val="dk1"/>
                </a:solidFill>
              </a:rPr>
              <a:t>customer segmentation analysis</a:t>
            </a:r>
            <a:r>
              <a:rPr lang="en" sz="1400">
                <a:solidFill>
                  <a:schemeClr val="dk1"/>
                </a:solidFill>
              </a:rPr>
              <a:t> to identify churn patterns across different groups.</a:t>
            </a:r>
            <a:br>
              <a:rPr lang="en" sz="1400">
                <a:solidFill>
                  <a:schemeClr val="dk1"/>
                </a:solidFill>
              </a:rPr>
            </a:b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pic>
        <p:nvPicPr>
          <p:cNvPr id="138" name="Google Shape;138;p24"/>
          <p:cNvPicPr preferRelativeResize="0"/>
          <p:nvPr/>
        </p:nvPicPr>
        <p:blipFill>
          <a:blip r:embed="rId3">
            <a:alphaModFix/>
          </a:blip>
          <a:stretch>
            <a:fillRect/>
          </a:stretch>
        </p:blipFill>
        <p:spPr>
          <a:xfrm>
            <a:off x="4789050" y="1017725"/>
            <a:ext cx="4286974" cy="3319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122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800">
                <a:latin typeface="Playfair Display SemiBold"/>
                <a:ea typeface="Playfair Display SemiBold"/>
                <a:cs typeface="Playfair Display SemiBold"/>
                <a:sym typeface="Playfair Display SemiBold"/>
              </a:rPr>
              <a:t>Thank You!</a:t>
            </a:r>
            <a:endParaRPr sz="4800">
              <a:latin typeface="Playfair Display SemiBold"/>
              <a:ea typeface="Playfair Display SemiBold"/>
              <a:cs typeface="Playfair Display SemiBold"/>
              <a:sym typeface="Playfair Display SemiBold"/>
            </a:endParaRPr>
          </a:p>
        </p:txBody>
      </p:sp>
      <p:sp>
        <p:nvSpPr>
          <p:cNvPr id="144" name="Google Shape;144;p25"/>
          <p:cNvSpPr txBox="1"/>
          <p:nvPr>
            <p:ph idx="1" type="body"/>
          </p:nvPr>
        </p:nvSpPr>
        <p:spPr>
          <a:xfrm>
            <a:off x="2216325" y="1594775"/>
            <a:ext cx="4899300" cy="887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3000">
                <a:solidFill>
                  <a:schemeClr val="dk1"/>
                </a:solidFill>
              </a:rPr>
              <a:t>Questions or Discussions?</a:t>
            </a:r>
            <a:endParaRPr sz="3000">
              <a:solidFill>
                <a:schemeClr val="dk1"/>
              </a:solidFill>
            </a:endParaRPr>
          </a:p>
        </p:txBody>
      </p:sp>
      <p:pic>
        <p:nvPicPr>
          <p:cNvPr id="145" name="Google Shape;145;p25"/>
          <p:cNvPicPr preferRelativeResize="0"/>
          <p:nvPr/>
        </p:nvPicPr>
        <p:blipFill>
          <a:blip r:embed="rId3">
            <a:alphaModFix/>
          </a:blip>
          <a:stretch>
            <a:fillRect/>
          </a:stretch>
        </p:blipFill>
        <p:spPr>
          <a:xfrm>
            <a:off x="2574000" y="2571750"/>
            <a:ext cx="3996000" cy="2220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